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9" r:id="rId4"/>
    <p:sldId id="261" r:id="rId5"/>
    <p:sldId id="262" r:id="rId6"/>
    <p:sldId id="263" r:id="rId7"/>
    <p:sldId id="264" r:id="rId8"/>
    <p:sldId id="266" r:id="rId9"/>
    <p:sldId id="267" r:id="rId10"/>
    <p:sldId id="269" r:id="rId11"/>
    <p:sldId id="270" r:id="rId12"/>
    <p:sldId id="272" r:id="rId13"/>
    <p:sldId id="273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2" d="100"/>
          <a:sy n="52" d="100"/>
        </p:scale>
        <p:origin x="39" y="10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4005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79541" y="1608802"/>
            <a:ext cx="8784918" cy="80467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4176" b="1" kern="0" spc="360" dirty="0">
                <a:solidFill>
                  <a:srgbClr val="FAE4B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爱国与信念的力量</a:t>
            </a:r>
            <a:endParaRPr lang="en-US" sz="1440" dirty="0"/>
          </a:p>
        </p:txBody>
      </p:sp>
      <p:sp>
        <p:nvSpPr>
          <p:cNvPr id="4" name="Text 1"/>
          <p:cNvSpPr/>
          <p:nvPr/>
        </p:nvSpPr>
        <p:spPr>
          <a:xfrm>
            <a:off x="0" y="1142458"/>
            <a:ext cx="9144000" cy="52120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728" kern="0" spc="72" dirty="0">
                <a:solidFill>
                  <a:srgbClr val="FAE4B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探索历史中的伟大人物故事</a:t>
            </a:r>
            <a:endParaRPr lang="en-US" sz="14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44235" y="1030946"/>
            <a:ext cx="2055531" cy="171907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8064" b="1" dirty="0">
                <a:solidFill>
                  <a:srgbClr val="FAE4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40" dirty="0"/>
          </a:p>
        </p:txBody>
      </p:sp>
      <p:sp>
        <p:nvSpPr>
          <p:cNvPr id="3" name="Text 1"/>
          <p:cNvSpPr/>
          <p:nvPr/>
        </p:nvSpPr>
        <p:spPr>
          <a:xfrm>
            <a:off x="0" y="2388830"/>
            <a:ext cx="9144000" cy="70408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736" dirty="0">
                <a:solidFill>
                  <a:srgbClr val="FAE4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爱国者壮丽篇章</a:t>
            </a:r>
            <a:endParaRPr lang="en-US" sz="1440" dirty="0"/>
          </a:p>
        </p:txBody>
      </p:sp>
      <p:pic>
        <p:nvPicPr>
          <p:cNvPr id="4" name="Image 0" descr="https://sgw-dx.xf-yun.com/api/v1/sparkdesk/_19052329831_pRUgWF1732072005825-020175645818468935.png?authorization=c2ltcGxlLWp3dCBhaz1zcGFya2Rlc2s4MDAwMDAwMDAwMDE7ZXhwPTMzMDg4NzIwMDg7YWxnbz1obWFjLXNoYTI1NjtzaWc9aHc2bk1JRlhaRmJ6R2h0b2FqRHVScVhIZmRVMHhFM0FRWXBQRGd3U2FMaz0=&amp;x_location=7YfmxI7B7uKO7jlRxIftd60pfPD=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172" y="2631146"/>
            <a:ext cx="927512" cy="256032"/>
          </a:xfrm>
          <a:prstGeom prst="rect">
            <a:avLst/>
          </a:prstGeom>
        </p:spPr>
      </p:pic>
      <p:pic>
        <p:nvPicPr>
          <p:cNvPr id="5" name="Image 1" descr="https://sgw-dx.xf-yun.com/api/v1/sparkdesk/_19052329831_pRUgWF1732072005825-020175645818468935.png?authorization=c2ltcGxlLWp3dCBhaz1zcGFya2Rlc2s4MDAwMDAwMDAwMDE7ZXhwPTMzMDg4NzIwMDg7YWxnbz1obWFjLXNoYTI1NjtzaWc9aHc2bk1JRlhaRmJ6R2h0b2FqRHVScVhIZmRVMHhFM0FRWXBQRGd3U2FMaz0=&amp;x_location=7YfmxI7B7uKO7jlRxIftd60pfPD=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999316" y="2631146"/>
            <a:ext cx="927512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0207" y="66883"/>
            <a:ext cx="8088253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历史长河中光辉名字</a:t>
            </a:r>
            <a:endParaRPr lang="en-US" sz="1440" dirty="0"/>
          </a:p>
        </p:txBody>
      </p:sp>
      <p:sp>
        <p:nvSpPr>
          <p:cNvPr id="3" name="Shape 1"/>
          <p:cNvSpPr/>
          <p:nvPr/>
        </p:nvSpPr>
        <p:spPr>
          <a:xfrm>
            <a:off x="4148425" y="2215286"/>
            <a:ext cx="576615" cy="834888"/>
          </a:xfrm>
          <a:custGeom>
            <a:avLst/>
            <a:gdLst/>
            <a:ahLst/>
            <a:cxnLst/>
            <a:rect l="l" t="t" r="r" b="b"/>
            <a:pathLst>
              <a:path w="576615" h="834888">
                <a:moveTo>
                  <a:pt x="576615" y="0"/>
                </a:moveTo>
                <a:moveTo>
                  <a:pt x="576615" y="0"/>
                </a:moveTo>
                <a:lnTo>
                  <a:pt x="0" y="834888"/>
                </a:lnTo>
              </a:path>
            </a:pathLst>
          </a:custGeom>
          <a:noFill/>
          <a:ln w="19050">
            <a:solidFill>
              <a:srgbClr val="E81E2B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4160714" y="1450417"/>
            <a:ext cx="564612" cy="751974"/>
          </a:xfrm>
          <a:custGeom>
            <a:avLst/>
            <a:gdLst/>
            <a:ahLst/>
            <a:cxnLst/>
            <a:rect l="l" t="t" r="r" b="b"/>
            <a:pathLst>
              <a:path w="564612" h="751974">
                <a:moveTo>
                  <a:pt x="0" y="0"/>
                </a:moveTo>
                <a:moveTo>
                  <a:pt x="0" y="0"/>
                </a:moveTo>
                <a:lnTo>
                  <a:pt x="564612" y="751974"/>
                </a:lnTo>
              </a:path>
            </a:pathLst>
          </a:custGeom>
          <a:noFill/>
          <a:ln w="19050">
            <a:solidFill>
              <a:srgbClr val="E81E2B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646624" y="1078530"/>
            <a:ext cx="556517" cy="556517"/>
          </a:xfrm>
          <a:custGeom>
            <a:avLst/>
            <a:gdLst/>
            <a:ahLst/>
            <a:cxnLst/>
            <a:rect l="l" t="t" r="r" b="b"/>
            <a:pathLst>
              <a:path w="556517" h="556517">
                <a:moveTo>
                  <a:pt x="0" y="0"/>
                </a:moveTo>
                <a:moveTo>
                  <a:pt x="0" y="0"/>
                </a:moveTo>
                <a:lnTo>
                  <a:pt x="556517" y="0"/>
                </a:lnTo>
                <a:lnTo>
                  <a:pt x="556517" y="556517"/>
                </a:lnTo>
                <a:lnTo>
                  <a:pt x="0" y="556517"/>
                </a:lnTo>
                <a:close/>
              </a:path>
            </a:pathLst>
          </a:custGeom>
          <a:solidFill>
            <a:srgbClr val="0084FF"/>
          </a:solidFill>
          <a:ln/>
        </p:spPr>
      </p:sp>
      <p:sp>
        <p:nvSpPr>
          <p:cNvPr id="6" name="Shape 4"/>
          <p:cNvSpPr/>
          <p:nvPr/>
        </p:nvSpPr>
        <p:spPr>
          <a:xfrm>
            <a:off x="1203141" y="1359276"/>
            <a:ext cx="2868202" cy="0"/>
          </a:xfrm>
          <a:custGeom>
            <a:avLst/>
            <a:gdLst/>
            <a:ahLst/>
            <a:cxnLst/>
            <a:rect l="l" t="t" r="r" b="b"/>
            <a:pathLst>
              <a:path w="2868202">
                <a:moveTo>
                  <a:pt x="0" y="0"/>
                </a:moveTo>
                <a:moveTo>
                  <a:pt x="0" y="0"/>
                </a:moveTo>
                <a:lnTo>
                  <a:pt x="2868202" y="0"/>
                </a:lnTo>
              </a:path>
            </a:pathLst>
          </a:custGeom>
          <a:noFill/>
          <a:ln w="19050">
            <a:solidFill>
              <a:srgbClr val="E81E2B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4056069" y="1350132"/>
            <a:ext cx="192640" cy="192640"/>
          </a:xfrm>
          <a:custGeom>
            <a:avLst/>
            <a:gdLst/>
            <a:ahLst/>
            <a:cxnLst/>
            <a:rect l="l" t="t" r="r" b="b"/>
            <a:pathLst>
              <a:path w="192640" h="192640">
                <a:moveTo>
                  <a:pt x="0" y="0"/>
                </a:moveTo>
                <a:moveTo>
                  <a:pt x="0" y="0"/>
                </a:moveTo>
                <a:lnTo>
                  <a:pt x="192640" y="0"/>
                </a:lnTo>
                <a:lnTo>
                  <a:pt x="192640" y="192640"/>
                </a:lnTo>
                <a:lnTo>
                  <a:pt x="0" y="192640"/>
                </a:lnTo>
                <a:close/>
              </a:path>
            </a:pathLst>
          </a:custGeom>
          <a:solidFill>
            <a:srgbClr val="0084FF"/>
          </a:solidFill>
          <a:ln/>
        </p:spPr>
      </p:sp>
      <p:sp>
        <p:nvSpPr>
          <p:cNvPr id="8" name="Shape 6"/>
          <p:cNvSpPr/>
          <p:nvPr/>
        </p:nvSpPr>
        <p:spPr>
          <a:xfrm>
            <a:off x="4056069" y="2932872"/>
            <a:ext cx="192640" cy="192640"/>
          </a:xfrm>
          <a:custGeom>
            <a:avLst/>
            <a:gdLst/>
            <a:ahLst/>
            <a:cxnLst/>
            <a:rect l="l" t="t" r="r" b="b"/>
            <a:pathLst>
              <a:path w="192640" h="192640">
                <a:moveTo>
                  <a:pt x="0" y="0"/>
                </a:moveTo>
                <a:moveTo>
                  <a:pt x="0" y="0"/>
                </a:moveTo>
                <a:lnTo>
                  <a:pt x="192640" y="0"/>
                </a:lnTo>
                <a:lnTo>
                  <a:pt x="192640" y="192640"/>
                </a:lnTo>
                <a:lnTo>
                  <a:pt x="0" y="192640"/>
                </a:lnTo>
                <a:close/>
              </a:path>
            </a:pathLst>
          </a:custGeom>
          <a:solidFill>
            <a:srgbClr val="0084FF"/>
          </a:solidFill>
          <a:ln/>
        </p:spPr>
      </p:sp>
      <p:sp>
        <p:nvSpPr>
          <p:cNvPr id="9" name="Shape 7"/>
          <p:cNvSpPr/>
          <p:nvPr/>
        </p:nvSpPr>
        <p:spPr>
          <a:xfrm>
            <a:off x="4838991" y="2211190"/>
            <a:ext cx="3224944" cy="0"/>
          </a:xfrm>
          <a:custGeom>
            <a:avLst/>
            <a:gdLst/>
            <a:ahLst/>
            <a:cxnLst/>
            <a:rect l="l" t="t" r="r" b="b"/>
            <a:pathLst>
              <a:path w="3224944">
                <a:moveTo>
                  <a:pt x="0" y="0"/>
                </a:moveTo>
                <a:moveTo>
                  <a:pt x="0" y="0"/>
                </a:moveTo>
                <a:lnTo>
                  <a:pt x="3224944" y="0"/>
                </a:lnTo>
              </a:path>
            </a:pathLst>
          </a:custGeom>
          <a:noFill/>
          <a:ln w="19050">
            <a:solidFill>
              <a:srgbClr val="E81E2B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7940859" y="1957076"/>
            <a:ext cx="556517" cy="556517"/>
          </a:xfrm>
          <a:custGeom>
            <a:avLst/>
            <a:gdLst/>
            <a:ahLst/>
            <a:cxnLst/>
            <a:rect l="l" t="t" r="r" b="b"/>
            <a:pathLst>
              <a:path w="556517" h="556517">
                <a:moveTo>
                  <a:pt x="0" y="0"/>
                </a:moveTo>
                <a:moveTo>
                  <a:pt x="0" y="0"/>
                </a:moveTo>
                <a:lnTo>
                  <a:pt x="556517" y="0"/>
                </a:lnTo>
                <a:lnTo>
                  <a:pt x="556517" y="556517"/>
                </a:lnTo>
                <a:lnTo>
                  <a:pt x="0" y="556517"/>
                </a:lnTo>
                <a:close/>
              </a:path>
            </a:pathLst>
          </a:custGeom>
          <a:solidFill>
            <a:srgbClr val="0084FF"/>
          </a:solidFill>
          <a:ln/>
        </p:spPr>
      </p:sp>
      <p:sp>
        <p:nvSpPr>
          <p:cNvPr id="11" name="Shape 9"/>
          <p:cNvSpPr/>
          <p:nvPr/>
        </p:nvSpPr>
        <p:spPr>
          <a:xfrm>
            <a:off x="1203141" y="3113881"/>
            <a:ext cx="2886490" cy="2488"/>
          </a:xfrm>
          <a:custGeom>
            <a:avLst/>
            <a:gdLst/>
            <a:ahLst/>
            <a:cxnLst/>
            <a:rect l="l" t="t" r="r" b="b"/>
            <a:pathLst>
              <a:path w="2886490" h="2488">
                <a:moveTo>
                  <a:pt x="0" y="0"/>
                </a:moveTo>
                <a:moveTo>
                  <a:pt x="0" y="0"/>
                </a:moveTo>
                <a:lnTo>
                  <a:pt x="2886490" y="2488"/>
                </a:lnTo>
              </a:path>
            </a:pathLst>
          </a:custGeom>
          <a:noFill/>
          <a:ln w="19050">
            <a:solidFill>
              <a:srgbClr val="E81E2B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646624" y="2835622"/>
            <a:ext cx="556517" cy="556517"/>
          </a:xfrm>
          <a:custGeom>
            <a:avLst/>
            <a:gdLst/>
            <a:ahLst/>
            <a:cxnLst/>
            <a:rect l="l" t="t" r="r" b="b"/>
            <a:pathLst>
              <a:path w="556517" h="556517">
                <a:moveTo>
                  <a:pt x="0" y="0"/>
                </a:moveTo>
                <a:moveTo>
                  <a:pt x="0" y="0"/>
                </a:moveTo>
                <a:lnTo>
                  <a:pt x="556517" y="0"/>
                </a:lnTo>
                <a:lnTo>
                  <a:pt x="556517" y="556517"/>
                </a:lnTo>
                <a:lnTo>
                  <a:pt x="0" y="556517"/>
                </a:lnTo>
                <a:close/>
              </a:path>
            </a:pathLst>
          </a:custGeom>
          <a:solidFill>
            <a:srgbClr val="0084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6624" y="1105962"/>
            <a:ext cx="556517" cy="512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160" b="1" dirty="0">
                <a:solidFill>
                  <a:srgbClr val="E1E1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40" dirty="0"/>
          </a:p>
        </p:txBody>
      </p:sp>
      <p:sp>
        <p:nvSpPr>
          <p:cNvPr id="14" name="Text 12"/>
          <p:cNvSpPr/>
          <p:nvPr/>
        </p:nvSpPr>
        <p:spPr>
          <a:xfrm>
            <a:off x="7940859" y="1984508"/>
            <a:ext cx="556517" cy="512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160" b="1" dirty="0">
                <a:solidFill>
                  <a:srgbClr val="E1E1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40" dirty="0"/>
          </a:p>
        </p:txBody>
      </p:sp>
      <p:sp>
        <p:nvSpPr>
          <p:cNvPr id="15" name="Text 13"/>
          <p:cNvSpPr/>
          <p:nvPr/>
        </p:nvSpPr>
        <p:spPr>
          <a:xfrm>
            <a:off x="646624" y="2862421"/>
            <a:ext cx="556517" cy="512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160" b="1" dirty="0">
                <a:solidFill>
                  <a:srgbClr val="E1E1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40" dirty="0"/>
          </a:p>
        </p:txBody>
      </p:sp>
      <p:sp>
        <p:nvSpPr>
          <p:cNvPr id="16" name="Text 14"/>
          <p:cNvSpPr/>
          <p:nvPr/>
        </p:nvSpPr>
        <p:spPr>
          <a:xfrm>
            <a:off x="1203141" y="957284"/>
            <a:ext cx="2852928" cy="40233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728" b="1" dirty="0">
                <a:solidFill>
                  <a:srgbClr val="E81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张海迪的坚韧与奉献</a:t>
            </a:r>
            <a:endParaRPr lang="en-US" sz="1440" dirty="0"/>
          </a:p>
        </p:txBody>
      </p:sp>
      <p:sp>
        <p:nvSpPr>
          <p:cNvPr id="17" name="Text 15"/>
          <p:cNvSpPr/>
          <p:nvPr/>
        </p:nvSpPr>
        <p:spPr>
          <a:xfrm>
            <a:off x="1203665" y="1359620"/>
            <a:ext cx="2852928" cy="10607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2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张海迪，面对命运的残酷挑战，不仅自学成才，还积极投身于社会公益事业，她的故事激励着无数人勇敢面对困难，展现了爱国情怀和坚定信念。</a:t>
            </a:r>
            <a:endParaRPr lang="en-US" sz="1440" dirty="0"/>
          </a:p>
        </p:txBody>
      </p:sp>
      <p:sp>
        <p:nvSpPr>
          <p:cNvPr id="18" name="Text 16"/>
          <p:cNvSpPr/>
          <p:nvPr/>
        </p:nvSpPr>
        <p:spPr>
          <a:xfrm>
            <a:off x="4838690" y="1808486"/>
            <a:ext cx="2852928" cy="40233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728" b="1" dirty="0">
                <a:solidFill>
                  <a:srgbClr val="E81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王建忠的极地探险精神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4838405" y="2210926"/>
            <a:ext cx="2852928" cy="10607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2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王建忠作为极地船长，在极端恶劣的环境中展现出非凡的勇气和智慧，他的行动不仅成功救助了遇险人员，也体现了对国家和人民深厚的爱与责任。</a:t>
            </a:r>
            <a:endParaRPr lang="en-US" sz="1440" dirty="0"/>
          </a:p>
        </p:txBody>
      </p:sp>
      <p:sp>
        <p:nvSpPr>
          <p:cNvPr id="20" name="Text 18"/>
          <p:cNvSpPr/>
          <p:nvPr/>
        </p:nvSpPr>
        <p:spPr>
          <a:xfrm>
            <a:off x="1203141" y="2704702"/>
            <a:ext cx="2852928" cy="40233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728" b="1" dirty="0">
                <a:solidFill>
                  <a:srgbClr val="E81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爱国与信念的力量</a:t>
            </a:r>
            <a:endParaRPr lang="en-US" sz="1440" dirty="0"/>
          </a:p>
        </p:txBody>
      </p:sp>
      <p:sp>
        <p:nvSpPr>
          <p:cNvPr id="21" name="Text 19"/>
          <p:cNvSpPr/>
          <p:nvPr/>
        </p:nvSpPr>
        <p:spPr>
          <a:xfrm>
            <a:off x="1203141" y="3125512"/>
            <a:ext cx="2852928" cy="10607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2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爱国情感和坚定信念是推动个人和社会前进的重要力量，它们相辅相成，共同塑造了一个个勇于担当、坚韧不拔的灵魂，引领我们在时代的洪流中不断前行。</a:t>
            </a:r>
            <a:endParaRPr lang="en-US" sz="1440" dirty="0"/>
          </a:p>
        </p:txBody>
      </p:sp>
      <p:sp>
        <p:nvSpPr>
          <p:cNvPr id="22" name="Shape 20"/>
          <p:cNvSpPr/>
          <p:nvPr/>
        </p:nvSpPr>
        <p:spPr>
          <a:xfrm>
            <a:off x="4646351" y="2114870"/>
            <a:ext cx="192640" cy="192640"/>
          </a:xfrm>
          <a:custGeom>
            <a:avLst/>
            <a:gdLst/>
            <a:ahLst/>
            <a:cxnLst/>
            <a:rect l="l" t="t" r="r" b="b"/>
            <a:pathLst>
              <a:path w="192640" h="192640">
                <a:moveTo>
                  <a:pt x="0" y="0"/>
                </a:moveTo>
                <a:moveTo>
                  <a:pt x="0" y="0"/>
                </a:moveTo>
                <a:lnTo>
                  <a:pt x="192640" y="0"/>
                </a:lnTo>
                <a:lnTo>
                  <a:pt x="192640" y="192640"/>
                </a:lnTo>
                <a:lnTo>
                  <a:pt x="0" y="192640"/>
                </a:lnTo>
                <a:close/>
              </a:path>
            </a:pathLst>
          </a:custGeom>
          <a:solidFill>
            <a:srgbClr val="0084FF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44235" y="1030946"/>
            <a:ext cx="2055531" cy="171907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8064" b="1" dirty="0">
                <a:solidFill>
                  <a:srgbClr val="FAE4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40" dirty="0"/>
          </a:p>
        </p:txBody>
      </p:sp>
      <p:sp>
        <p:nvSpPr>
          <p:cNvPr id="3" name="Text 1"/>
          <p:cNvSpPr/>
          <p:nvPr/>
        </p:nvSpPr>
        <p:spPr>
          <a:xfrm>
            <a:off x="0" y="2388830"/>
            <a:ext cx="9144000" cy="70408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736" dirty="0">
                <a:solidFill>
                  <a:srgbClr val="FAE4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张海迪事迹与精神</a:t>
            </a:r>
            <a:endParaRPr lang="en-US" sz="1440" dirty="0"/>
          </a:p>
        </p:txBody>
      </p:sp>
      <p:pic>
        <p:nvPicPr>
          <p:cNvPr id="4" name="Image 0" descr="https://sgw-dx.xf-yun.com/api/v1/sparkdesk/_19052329831_pRUgWF1732072005825-020175645818468935.png?authorization=c2ltcGxlLWp3dCBhaz1zcGFya2Rlc2s4MDAwMDAwMDAwMDE7ZXhwPTMzMDg4NzIwMDg7YWxnbz1obWFjLXNoYTI1NjtzaWc9aHc2bk1JRlhaRmJ6R2h0b2FqRHVScVhIZmRVMHhFM0FRWXBQRGd3U2FMaz0=&amp;x_location=7YfmxI7B7uKO7jlRxIftd60pfPD=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172" y="2631146"/>
            <a:ext cx="927512" cy="256032"/>
          </a:xfrm>
          <a:prstGeom prst="rect">
            <a:avLst/>
          </a:prstGeom>
        </p:spPr>
      </p:pic>
      <p:pic>
        <p:nvPicPr>
          <p:cNvPr id="5" name="Image 1" descr="https://sgw-dx.xf-yun.com/api/v1/sparkdesk/_19052329831_pRUgWF1732072005825-020175645818468935.png?authorization=c2ltcGxlLWp3dCBhaz1zcGFya2Rlc2s4MDAwMDAwMDAwMDE7ZXhwPTMzMDg4NzIwMDg7YWxnbz1obWFjLXNoYTI1NjtzaWc9aHc2bk1JRlhaRmJ6R2h0b2FqRHVScVhIZmRVMHhFM0FRWXBQRGd3U2FMaz0=&amp;x_location=7YfmxI7B7uKO7jlRxIftd60pfPD=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999316" y="2631146"/>
            <a:ext cx="927512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0207" y="66883"/>
            <a:ext cx="8088253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童年逆境与自学成才</a:t>
            </a:r>
            <a:endParaRPr lang="en-US" sz="1440" dirty="0"/>
          </a:p>
        </p:txBody>
      </p:sp>
      <p:sp>
        <p:nvSpPr>
          <p:cNvPr id="3" name="Shape 1"/>
          <p:cNvSpPr/>
          <p:nvPr/>
        </p:nvSpPr>
        <p:spPr>
          <a:xfrm>
            <a:off x="5612934" y="3639360"/>
            <a:ext cx="2689524" cy="445315"/>
          </a:xfrm>
          <a:custGeom>
            <a:avLst/>
            <a:gdLst/>
            <a:ahLst/>
            <a:cxnLst/>
            <a:rect l="l" t="t" r="r" b="b"/>
            <a:pathLst>
              <a:path w="2689524" h="445315">
                <a:moveTo>
                  <a:pt x="0" y="0"/>
                </a:moveTo>
                <a:moveTo>
                  <a:pt x="0" y="0"/>
                </a:moveTo>
                <a:lnTo>
                  <a:pt x="2689524" y="0"/>
                </a:lnTo>
                <a:lnTo>
                  <a:pt x="2689524" y="445315"/>
                </a:lnTo>
                <a:lnTo>
                  <a:pt x="0" y="445315"/>
                </a:lnTo>
                <a:close/>
              </a:path>
            </a:pathLst>
          </a:custGeom>
          <a:solidFill>
            <a:srgbClr val="5196FF"/>
          </a:solidFill>
          <a:ln/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Shape 2"/>
          <p:cNvSpPr/>
          <p:nvPr/>
        </p:nvSpPr>
        <p:spPr>
          <a:xfrm rot="-8100000">
            <a:off x="7917043" y="3492616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0" y="0"/>
                </a:moveTo>
                <a:moveTo>
                  <a:pt x="0" y="0"/>
                </a:moveTo>
                <a:lnTo>
                  <a:pt x="0" y="731520"/>
                </a:lnTo>
                <a:lnTo>
                  <a:pt x="731520" y="731520"/>
                </a:lnTo>
                <a:close/>
              </a:path>
            </a:pathLst>
          </a:custGeom>
          <a:solidFill>
            <a:srgbClr val="5196FF"/>
          </a:solidFill>
          <a:ln/>
        </p:spPr>
      </p:sp>
      <p:sp>
        <p:nvSpPr>
          <p:cNvPr id="5" name="Shape 3"/>
          <p:cNvSpPr/>
          <p:nvPr/>
        </p:nvSpPr>
        <p:spPr>
          <a:xfrm>
            <a:off x="599256" y="2517982"/>
            <a:ext cx="7687154" cy="576734"/>
          </a:xfrm>
          <a:custGeom>
            <a:avLst/>
            <a:gdLst/>
            <a:ahLst/>
            <a:cxnLst/>
            <a:rect l="l" t="t" r="r" b="b"/>
            <a:pathLst>
              <a:path w="7687154" h="576734">
                <a:moveTo>
                  <a:pt x="0" y="0"/>
                </a:moveTo>
                <a:moveTo>
                  <a:pt x="0" y="0"/>
                </a:moveTo>
                <a:lnTo>
                  <a:pt x="7687154" y="0"/>
                </a:lnTo>
                <a:lnTo>
                  <a:pt x="7687154" y="576734"/>
                </a:lnTo>
                <a:lnTo>
                  <a:pt x="0" y="576734"/>
                </a:lnTo>
                <a:close/>
              </a:path>
            </a:pathLst>
          </a:custGeom>
          <a:solidFill>
            <a:srgbClr val="5196FF"/>
          </a:solidFill>
          <a:ln/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Shape 4"/>
          <p:cNvSpPr/>
          <p:nvPr/>
        </p:nvSpPr>
        <p:spPr>
          <a:xfrm rot="-8100000">
            <a:off x="7876882" y="2479685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0" y="0"/>
                </a:moveTo>
                <a:moveTo>
                  <a:pt x="0" y="0"/>
                </a:moveTo>
                <a:lnTo>
                  <a:pt x="0" y="731520"/>
                </a:lnTo>
                <a:lnTo>
                  <a:pt x="731520" y="731520"/>
                </a:lnTo>
                <a:close/>
              </a:path>
            </a:pathLst>
          </a:custGeom>
          <a:solidFill>
            <a:srgbClr val="5196FF"/>
          </a:solidFill>
          <a:ln/>
        </p:spPr>
      </p:sp>
      <p:sp>
        <p:nvSpPr>
          <p:cNvPr id="7" name="Shape 5"/>
          <p:cNvSpPr/>
          <p:nvPr/>
        </p:nvSpPr>
        <p:spPr>
          <a:xfrm rot="-8100000">
            <a:off x="7912627" y="3038141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0" y="0"/>
                </a:moveTo>
                <a:moveTo>
                  <a:pt x="0" y="0"/>
                </a:moveTo>
                <a:lnTo>
                  <a:pt x="0" y="731520"/>
                </a:lnTo>
                <a:lnTo>
                  <a:pt x="731520" y="731520"/>
                </a:lnTo>
                <a:close/>
              </a:path>
            </a:pathLst>
          </a:custGeom>
          <a:solidFill>
            <a:srgbClr val="0084FF"/>
          </a:solidFill>
          <a:ln/>
        </p:spPr>
      </p:sp>
      <p:sp>
        <p:nvSpPr>
          <p:cNvPr id="8" name="Shape 6"/>
          <p:cNvSpPr/>
          <p:nvPr/>
        </p:nvSpPr>
        <p:spPr>
          <a:xfrm>
            <a:off x="599256" y="3103878"/>
            <a:ext cx="2511105" cy="942076"/>
          </a:xfrm>
          <a:custGeom>
            <a:avLst/>
            <a:gdLst/>
            <a:ahLst/>
            <a:cxnLst/>
            <a:rect l="l" t="t" r="r" b="b"/>
            <a:pathLst>
              <a:path w="2511105" h="1682799">
                <a:moveTo>
                  <a:pt x="0" y="0"/>
                </a:moveTo>
                <a:moveTo>
                  <a:pt x="0" y="0"/>
                </a:moveTo>
                <a:lnTo>
                  <a:pt x="2511105" y="0"/>
                </a:lnTo>
                <a:lnTo>
                  <a:pt x="2511105" y="1682799"/>
                </a:lnTo>
                <a:lnTo>
                  <a:pt x="0" y="16827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>
            <a:solidFill>
              <a:srgbClr val="CC9E5E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9" name="Shape 7"/>
          <p:cNvSpPr/>
          <p:nvPr/>
        </p:nvSpPr>
        <p:spPr>
          <a:xfrm>
            <a:off x="3126522" y="3648023"/>
            <a:ext cx="2488647" cy="972136"/>
          </a:xfrm>
          <a:custGeom>
            <a:avLst/>
            <a:gdLst/>
            <a:ahLst/>
            <a:cxnLst/>
            <a:rect l="l" t="t" r="r" b="b"/>
            <a:pathLst>
              <a:path w="2488647" h="1682799">
                <a:moveTo>
                  <a:pt x="0" y="0"/>
                </a:moveTo>
                <a:moveTo>
                  <a:pt x="0" y="0"/>
                </a:moveTo>
                <a:lnTo>
                  <a:pt x="2488647" y="0"/>
                </a:lnTo>
                <a:lnTo>
                  <a:pt x="2488647" y="1682799"/>
                </a:lnTo>
                <a:lnTo>
                  <a:pt x="0" y="16827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>
            <a:solidFill>
              <a:srgbClr val="E81E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17562" y="4093153"/>
            <a:ext cx="2591353" cy="956470"/>
          </a:xfrm>
          <a:custGeom>
            <a:avLst/>
            <a:gdLst/>
            <a:ahLst/>
            <a:cxnLst/>
            <a:rect l="l" t="t" r="r" b="b"/>
            <a:pathLst>
              <a:path w="2591353" h="1682799">
                <a:moveTo>
                  <a:pt x="0" y="0"/>
                </a:moveTo>
                <a:moveTo>
                  <a:pt x="0" y="0"/>
                </a:moveTo>
                <a:lnTo>
                  <a:pt x="2591353" y="0"/>
                </a:lnTo>
                <a:lnTo>
                  <a:pt x="2591353" y="1682799"/>
                </a:lnTo>
                <a:lnTo>
                  <a:pt x="0" y="16827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>
            <a:solidFill>
              <a:srgbClr val="CC9E5E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1" name="Text 9"/>
          <p:cNvSpPr/>
          <p:nvPr/>
        </p:nvSpPr>
        <p:spPr>
          <a:xfrm>
            <a:off x="591232" y="2608864"/>
            <a:ext cx="2430470" cy="40233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728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逆境中的坚韧</a:t>
            </a:r>
            <a:endParaRPr lang="en-US" sz="1440" dirty="0"/>
          </a:p>
        </p:txBody>
      </p:sp>
      <p:sp>
        <p:nvSpPr>
          <p:cNvPr id="12" name="Text 10"/>
          <p:cNvSpPr/>
          <p:nvPr/>
        </p:nvSpPr>
        <p:spPr>
          <a:xfrm>
            <a:off x="555486" y="3044406"/>
            <a:ext cx="2501961" cy="14630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800"/>
              </a:lnSpc>
              <a:spcBef>
                <a:spcPts val="375"/>
              </a:spcBef>
              <a:buNone/>
            </a:pPr>
            <a:r>
              <a:rPr lang="en-US" sz="1152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张海迪在五岁时因脊髓血管瘤失去行走能力，但她没有被命运击垮，反而以惊人的毅力和智慧开启了自学之路，展现了不屈不挠的精神。</a:t>
            </a:r>
            <a:endParaRPr lang="en-US" sz="1440" dirty="0"/>
          </a:p>
        </p:txBody>
      </p:sp>
      <p:sp>
        <p:nvSpPr>
          <p:cNvPr id="13" name="Text 11"/>
          <p:cNvSpPr/>
          <p:nvPr/>
        </p:nvSpPr>
        <p:spPr>
          <a:xfrm>
            <a:off x="3103314" y="3634136"/>
            <a:ext cx="2501961" cy="14630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800"/>
              </a:lnSpc>
              <a:spcBef>
                <a:spcPts val="375"/>
              </a:spcBef>
              <a:buNone/>
            </a:pPr>
            <a:r>
              <a:rPr lang="en-US" sz="1152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尽管身体受限，张海迪通过自学完成了小学和中学课程，并掌握了多门外语，翻译了大量外文著作，成为自学成才的光辉榜样。</a:t>
            </a:r>
            <a:endParaRPr lang="en-US" sz="1440" dirty="0"/>
          </a:p>
        </p:txBody>
      </p:sp>
      <p:sp>
        <p:nvSpPr>
          <p:cNvPr id="14" name="Text 12"/>
          <p:cNvSpPr/>
          <p:nvPr/>
        </p:nvSpPr>
        <p:spPr>
          <a:xfrm>
            <a:off x="5564310" y="3643617"/>
            <a:ext cx="2430470" cy="40233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728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知识改变命运</a:t>
            </a:r>
            <a:endParaRPr lang="en-US" sz="1440" dirty="0"/>
          </a:p>
        </p:txBody>
      </p:sp>
      <p:sp>
        <p:nvSpPr>
          <p:cNvPr id="15" name="Text 13"/>
          <p:cNvSpPr/>
          <p:nvPr/>
        </p:nvSpPr>
        <p:spPr>
          <a:xfrm>
            <a:off x="5613412" y="4061886"/>
            <a:ext cx="2501961" cy="14630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800"/>
              </a:lnSpc>
              <a:spcBef>
                <a:spcPts val="375"/>
              </a:spcBef>
              <a:buNone/>
            </a:pPr>
            <a:r>
              <a:rPr lang="en-US" sz="1152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张海迪不仅自学成才，还积极参与社会公益事业，担任中国肢残人协会主席等职务，致力于推动残疾人事业的发展，用知识改变了自己和他人的命运。</a:t>
            </a:r>
            <a:endParaRPr lang="en-US" sz="1440" dirty="0"/>
          </a:p>
        </p:txBody>
      </p:sp>
      <p:sp>
        <p:nvSpPr>
          <p:cNvPr id="16" name="Shape 14"/>
          <p:cNvSpPr/>
          <p:nvPr/>
        </p:nvSpPr>
        <p:spPr>
          <a:xfrm>
            <a:off x="3118385" y="3071288"/>
            <a:ext cx="5176049" cy="576734"/>
          </a:xfrm>
          <a:custGeom>
            <a:avLst/>
            <a:gdLst/>
            <a:ahLst/>
            <a:cxnLst/>
            <a:rect l="l" t="t" r="r" b="b"/>
            <a:pathLst>
              <a:path w="5176049" h="576734">
                <a:moveTo>
                  <a:pt x="0" y="0"/>
                </a:moveTo>
                <a:moveTo>
                  <a:pt x="0" y="0"/>
                </a:moveTo>
                <a:lnTo>
                  <a:pt x="5176049" y="0"/>
                </a:lnTo>
                <a:lnTo>
                  <a:pt x="5176049" y="576734"/>
                </a:lnTo>
                <a:lnTo>
                  <a:pt x="0" y="576734"/>
                </a:lnTo>
                <a:close/>
              </a:path>
            </a:pathLst>
          </a:custGeom>
          <a:solidFill>
            <a:srgbClr val="0084FF"/>
          </a:solidFill>
          <a:ln/>
        </p:spPr>
      </p:sp>
      <p:sp>
        <p:nvSpPr>
          <p:cNvPr id="17" name="Text 15"/>
          <p:cNvSpPr/>
          <p:nvPr/>
        </p:nvSpPr>
        <p:spPr>
          <a:xfrm>
            <a:off x="3027977" y="3145878"/>
            <a:ext cx="2430470" cy="40233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728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自学成才的典范</a:t>
            </a:r>
            <a:endParaRPr lang="en-US" sz="1440" dirty="0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8DBBF81D-3CF5-BF81-EF91-06B94B39FE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7315" y="582450"/>
            <a:ext cx="2571036" cy="19263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0207" y="66883"/>
            <a:ext cx="8088253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文学创作与社会贡献</a:t>
            </a:r>
            <a:endParaRPr lang="en-US" sz="1440" dirty="0"/>
          </a:p>
        </p:txBody>
      </p:sp>
      <p:sp>
        <p:nvSpPr>
          <p:cNvPr id="4" name="Text 1"/>
          <p:cNvSpPr/>
          <p:nvPr/>
        </p:nvSpPr>
        <p:spPr>
          <a:xfrm>
            <a:off x="3485040" y="1130659"/>
            <a:ext cx="3309781" cy="48463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584" b="1" dirty="0">
                <a:solidFill>
                  <a:srgbClr val="E81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文学创作的力量</a:t>
            </a:r>
            <a:endParaRPr lang="en-US" sz="1440" dirty="0"/>
          </a:p>
        </p:txBody>
      </p:sp>
      <p:sp>
        <p:nvSpPr>
          <p:cNvPr id="5" name="Text 2"/>
          <p:cNvSpPr/>
          <p:nvPr/>
        </p:nvSpPr>
        <p:spPr>
          <a:xfrm>
            <a:off x="3485040" y="1427243"/>
            <a:ext cx="5212080" cy="6217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2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张海迪通过她的文学作品，如《轮椅上的梦》等，不仅展现了她对生命的热爱和对知识的渴求，还传递了坚韧不拔、积极向上的精神力量。</a:t>
            </a:r>
            <a:endParaRPr lang="en-US" sz="1440" dirty="0"/>
          </a:p>
        </p:txBody>
      </p:sp>
      <p:sp>
        <p:nvSpPr>
          <p:cNvPr id="6" name="Text 3"/>
          <p:cNvSpPr/>
          <p:nvPr/>
        </p:nvSpPr>
        <p:spPr>
          <a:xfrm>
            <a:off x="3485040" y="2158619"/>
            <a:ext cx="4507439" cy="48463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584" b="1" dirty="0">
                <a:solidFill>
                  <a:srgbClr val="E81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社会公益事业的推动者</a:t>
            </a:r>
            <a:endParaRPr lang="en-US" sz="1440" dirty="0"/>
          </a:p>
        </p:txBody>
      </p:sp>
      <p:sp>
        <p:nvSpPr>
          <p:cNvPr id="7" name="Text 4"/>
          <p:cNvSpPr/>
          <p:nvPr/>
        </p:nvSpPr>
        <p:spPr>
          <a:xfrm>
            <a:off x="3485040" y="2463259"/>
            <a:ext cx="5212080" cy="6217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2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张海迪积极参与社会公益事业，担任中国肢残人协会主席等职务，致力于推动残疾人事业的发展，为残疾人提供更好的康复和教育资源。</a:t>
            </a:r>
            <a:endParaRPr lang="en-US" sz="1440" dirty="0"/>
          </a:p>
        </p:txBody>
      </p:sp>
      <p:sp>
        <p:nvSpPr>
          <p:cNvPr id="8" name="Text 5"/>
          <p:cNvSpPr/>
          <p:nvPr/>
        </p:nvSpPr>
        <p:spPr>
          <a:xfrm>
            <a:off x="3485040" y="3194618"/>
            <a:ext cx="4861995" cy="48463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584" b="1" dirty="0">
                <a:solidFill>
                  <a:srgbClr val="E81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爱国与信念的典范</a:t>
            </a:r>
            <a:endParaRPr lang="en-US" sz="1440" dirty="0"/>
          </a:p>
        </p:txBody>
      </p:sp>
      <p:sp>
        <p:nvSpPr>
          <p:cNvPr id="9" name="Text 6"/>
          <p:cNvSpPr/>
          <p:nvPr/>
        </p:nvSpPr>
        <p:spPr>
          <a:xfrm>
            <a:off x="3485040" y="3491058"/>
            <a:ext cx="5213718" cy="6217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2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张海迪以她的坚韧不拔、自强不息的精神，成为了无数青年的偶像和榜样，用自己的实际行动诠释了什么是真正的爱国和信念。</a:t>
            </a:r>
            <a:endParaRPr lang="en-US" sz="1440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2BC6EC8-D6A4-8997-28DA-806CB81EB4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039" y="1180924"/>
            <a:ext cx="2778883" cy="280135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44235" y="1030946"/>
            <a:ext cx="2055531" cy="171907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8064" b="1" dirty="0">
                <a:solidFill>
                  <a:srgbClr val="FAE4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40" dirty="0"/>
          </a:p>
        </p:txBody>
      </p:sp>
      <p:sp>
        <p:nvSpPr>
          <p:cNvPr id="3" name="Text 1"/>
          <p:cNvSpPr/>
          <p:nvPr/>
        </p:nvSpPr>
        <p:spPr>
          <a:xfrm>
            <a:off x="0" y="2388830"/>
            <a:ext cx="9144000" cy="70408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736" dirty="0">
                <a:solidFill>
                  <a:srgbClr val="FAE4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王建忠极地救援行动</a:t>
            </a:r>
            <a:endParaRPr lang="en-US" sz="1440" dirty="0"/>
          </a:p>
        </p:txBody>
      </p:sp>
      <p:pic>
        <p:nvPicPr>
          <p:cNvPr id="4" name="Image 0" descr="https://sgw-dx.xf-yun.com/api/v1/sparkdesk/_19052329831_pRUgWF1732072005825-020175645818468935.png?authorization=c2ltcGxlLWp3dCBhaz1zcGFya2Rlc2s4MDAwMDAwMDAwMDE7ZXhwPTMzMDg4NzIwMDg7YWxnbz1obWFjLXNoYTI1NjtzaWc9aHc2bk1JRlhaRmJ6R2h0b2FqRHVScVhIZmRVMHhFM0FRWXBQRGd3U2FMaz0=&amp;x_location=7YfmxI7B7uKO7jlRxIftd60pfPD=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172" y="2631146"/>
            <a:ext cx="927512" cy="256032"/>
          </a:xfrm>
          <a:prstGeom prst="rect">
            <a:avLst/>
          </a:prstGeom>
        </p:spPr>
      </p:pic>
      <p:pic>
        <p:nvPicPr>
          <p:cNvPr id="5" name="Image 1" descr="https://sgw-dx.xf-yun.com/api/v1/sparkdesk/_19052329831_pRUgWF1732072005825-020175645818468935.png?authorization=c2ltcGxlLWp3dCBhaz1zcGFya2Rlc2s4MDAwMDAwMDAwMDE7ZXhwPTMzMDg4NzIwMDg7YWxnbz1obWFjLXNoYTI1NjtzaWc9aHc2bk1JRlhaRmJ6R2h0b2FqRHVScVhIZmRVMHhFM0FRWXBQRGd3U2FMaz0=&amp;x_location=7YfmxI7B7uKO7jlRxIftd60pfPD=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999316" y="2631146"/>
            <a:ext cx="927512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0207" y="66883"/>
            <a:ext cx="8088253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成功救援52名乘客</a:t>
            </a:r>
            <a:endParaRPr lang="en-US" sz="1440" dirty="0"/>
          </a:p>
        </p:txBody>
      </p:sp>
      <p:sp>
        <p:nvSpPr>
          <p:cNvPr id="3" name="Shape 1"/>
          <p:cNvSpPr/>
          <p:nvPr/>
        </p:nvSpPr>
        <p:spPr>
          <a:xfrm rot="-366000">
            <a:off x="638666" y="2478460"/>
            <a:ext cx="2450592" cy="2542032"/>
          </a:xfrm>
          <a:custGeom>
            <a:avLst/>
            <a:gdLst/>
            <a:ahLst/>
            <a:cxnLst/>
            <a:rect l="l" t="t" r="r" b="b"/>
            <a:pathLst>
              <a:path w="2450592" h="2542032">
                <a:moveTo>
                  <a:pt x="216394" y="0"/>
                </a:moveTo>
                <a:moveTo>
                  <a:pt x="216394" y="0"/>
                </a:moveTo>
                <a:lnTo>
                  <a:pt x="2234198" y="0"/>
                </a:lnTo>
                <a:quadBezTo>
                  <a:pt x="2450592" y="0"/>
                  <a:pt x="2450592" y="216394"/>
                </a:quadBezTo>
                <a:lnTo>
                  <a:pt x="2450592" y="2325638"/>
                </a:lnTo>
                <a:quadBezTo>
                  <a:pt x="2450592" y="2542032"/>
                  <a:pt x="2234198" y="2542032"/>
                </a:quadBezTo>
                <a:lnTo>
                  <a:pt x="216394" y="2542032"/>
                </a:lnTo>
                <a:quadBezTo>
                  <a:pt x="0" y="2542032"/>
                  <a:pt x="0" y="2325638"/>
                </a:quadBezTo>
                <a:lnTo>
                  <a:pt x="0" y="216394"/>
                </a:lnTo>
                <a:quadBezTo>
                  <a:pt x="0" y="0"/>
                  <a:pt x="216394" y="0"/>
                </a:quadBezTo>
                <a:close/>
              </a:path>
            </a:pathLst>
          </a:custGeom>
          <a:solidFill>
            <a:srgbClr val="000000">
              <a:alpha val="0"/>
            </a:srgbClr>
          </a:solidFill>
          <a:ln w="19050">
            <a:solidFill>
              <a:srgbClr val="E81E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8303" y="2464799"/>
            <a:ext cx="2450592" cy="2542032"/>
          </a:xfrm>
          <a:custGeom>
            <a:avLst/>
            <a:gdLst/>
            <a:ahLst/>
            <a:cxnLst/>
            <a:rect l="l" t="t" r="r" b="b"/>
            <a:pathLst>
              <a:path w="2450592" h="2542032">
                <a:moveTo>
                  <a:pt x="216394" y="0"/>
                </a:moveTo>
                <a:moveTo>
                  <a:pt x="216394" y="0"/>
                </a:moveTo>
                <a:lnTo>
                  <a:pt x="2234198" y="0"/>
                </a:lnTo>
                <a:quadBezTo>
                  <a:pt x="2450592" y="0"/>
                  <a:pt x="2450592" y="216394"/>
                </a:quadBezTo>
                <a:lnTo>
                  <a:pt x="2450592" y="2325638"/>
                </a:lnTo>
                <a:quadBezTo>
                  <a:pt x="2450592" y="2542032"/>
                  <a:pt x="2234198" y="2542032"/>
                </a:quadBezTo>
                <a:lnTo>
                  <a:pt x="216394" y="2542032"/>
                </a:lnTo>
                <a:quadBezTo>
                  <a:pt x="0" y="2542032"/>
                  <a:pt x="0" y="2325638"/>
                </a:quadBezTo>
                <a:lnTo>
                  <a:pt x="0" y="216394"/>
                </a:lnTo>
                <a:quadBezTo>
                  <a:pt x="0" y="0"/>
                  <a:pt x="216394" y="0"/>
                </a:quadBezTo>
                <a:close/>
              </a:path>
            </a:pathLst>
          </a:custGeom>
          <a:solidFill>
            <a:srgbClr val="000000">
              <a:alpha val="0"/>
            </a:srgbClr>
          </a:solidFill>
          <a:ln w="19050">
            <a:solidFill>
              <a:srgbClr val="E81E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5594" y="2275187"/>
            <a:ext cx="512064" cy="512064"/>
          </a:xfrm>
          <a:custGeom>
            <a:avLst/>
            <a:gdLst/>
            <a:ahLst/>
            <a:cxnLst/>
            <a:rect l="l" t="t" r="r" b="b"/>
            <a:pathLst>
              <a:path w="512064" h="512064">
                <a:moveTo>
                  <a:pt x="256032" y="0"/>
                </a:moveTo>
                <a:moveTo>
                  <a:pt x="256032" y="0"/>
                </a:moveTo>
                <a:cubicBezTo>
                  <a:pt x="397340" y="0"/>
                  <a:pt x="512064" y="114724"/>
                  <a:pt x="512064" y="256032"/>
                </a:cubicBezTo>
                <a:cubicBezTo>
                  <a:pt x="512064" y="397340"/>
                  <a:pt x="397340" y="512064"/>
                  <a:pt x="256032" y="512064"/>
                </a:cubicBezTo>
                <a:cubicBezTo>
                  <a:pt x="114724" y="512064"/>
                  <a:pt x="0" y="397340"/>
                  <a:pt x="0" y="256032"/>
                </a:cubicBezTo>
                <a:cubicBezTo>
                  <a:pt x="0" y="114724"/>
                  <a:pt x="114724" y="0"/>
                  <a:pt x="256032" y="0"/>
                </a:cubicBezTo>
                <a:close/>
              </a:path>
            </a:pathLst>
          </a:custGeom>
          <a:solidFill>
            <a:srgbClr val="0084FF"/>
          </a:solidFill>
          <a:ln/>
        </p:spPr>
      </p:sp>
      <p:sp>
        <p:nvSpPr>
          <p:cNvPr id="6" name="Text 4"/>
          <p:cNvSpPr/>
          <p:nvPr/>
        </p:nvSpPr>
        <p:spPr>
          <a:xfrm>
            <a:off x="755608" y="2243183"/>
            <a:ext cx="813748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40" dirty="0"/>
          </a:p>
        </p:txBody>
      </p:sp>
      <p:sp>
        <p:nvSpPr>
          <p:cNvPr id="7" name="Shape 5"/>
          <p:cNvSpPr/>
          <p:nvPr/>
        </p:nvSpPr>
        <p:spPr>
          <a:xfrm rot="-366000">
            <a:off x="3345509" y="2478460"/>
            <a:ext cx="2450592" cy="2542032"/>
          </a:xfrm>
          <a:custGeom>
            <a:avLst/>
            <a:gdLst/>
            <a:ahLst/>
            <a:cxnLst/>
            <a:rect l="l" t="t" r="r" b="b"/>
            <a:pathLst>
              <a:path w="2450592" h="2542032">
                <a:moveTo>
                  <a:pt x="216394" y="0"/>
                </a:moveTo>
                <a:moveTo>
                  <a:pt x="216394" y="0"/>
                </a:moveTo>
                <a:lnTo>
                  <a:pt x="2234198" y="0"/>
                </a:lnTo>
                <a:quadBezTo>
                  <a:pt x="2450592" y="0"/>
                  <a:pt x="2450592" y="216394"/>
                </a:quadBezTo>
                <a:lnTo>
                  <a:pt x="2450592" y="2325638"/>
                </a:lnTo>
                <a:quadBezTo>
                  <a:pt x="2450592" y="2542032"/>
                  <a:pt x="2234198" y="2542032"/>
                </a:quadBezTo>
                <a:lnTo>
                  <a:pt x="216394" y="2542032"/>
                </a:lnTo>
                <a:quadBezTo>
                  <a:pt x="0" y="2542032"/>
                  <a:pt x="0" y="2325638"/>
                </a:quadBezTo>
                <a:lnTo>
                  <a:pt x="0" y="216394"/>
                </a:lnTo>
                <a:quadBezTo>
                  <a:pt x="0" y="0"/>
                  <a:pt x="216394" y="0"/>
                </a:quadBezTo>
                <a:close/>
              </a:path>
            </a:pathLst>
          </a:custGeom>
          <a:solidFill>
            <a:srgbClr val="000000">
              <a:alpha val="0"/>
            </a:srgbClr>
          </a:solidFill>
          <a:ln w="19050">
            <a:solidFill>
              <a:srgbClr val="E81E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85146" y="2464799"/>
            <a:ext cx="2450592" cy="2542032"/>
          </a:xfrm>
          <a:custGeom>
            <a:avLst/>
            <a:gdLst/>
            <a:ahLst/>
            <a:cxnLst/>
            <a:rect l="l" t="t" r="r" b="b"/>
            <a:pathLst>
              <a:path w="2450592" h="2542032">
                <a:moveTo>
                  <a:pt x="216394" y="0"/>
                </a:moveTo>
                <a:moveTo>
                  <a:pt x="216394" y="0"/>
                </a:moveTo>
                <a:lnTo>
                  <a:pt x="2234198" y="0"/>
                </a:lnTo>
                <a:quadBezTo>
                  <a:pt x="2450592" y="0"/>
                  <a:pt x="2450592" y="216394"/>
                </a:quadBezTo>
                <a:lnTo>
                  <a:pt x="2450592" y="2325638"/>
                </a:lnTo>
                <a:quadBezTo>
                  <a:pt x="2450592" y="2542032"/>
                  <a:pt x="2234198" y="2542032"/>
                </a:quadBezTo>
                <a:lnTo>
                  <a:pt x="216394" y="2542032"/>
                </a:lnTo>
                <a:quadBezTo>
                  <a:pt x="0" y="2542032"/>
                  <a:pt x="0" y="2325638"/>
                </a:quadBezTo>
                <a:lnTo>
                  <a:pt x="0" y="216394"/>
                </a:lnTo>
                <a:quadBezTo>
                  <a:pt x="0" y="0"/>
                  <a:pt x="216394" y="0"/>
                </a:quadBezTo>
                <a:close/>
              </a:path>
            </a:pathLst>
          </a:custGeom>
          <a:solidFill>
            <a:srgbClr val="000000">
              <a:alpha val="0"/>
            </a:srgbClr>
          </a:solidFill>
          <a:ln w="19050">
            <a:solidFill>
              <a:srgbClr val="E81E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22437" y="2275187"/>
            <a:ext cx="512064" cy="512064"/>
          </a:xfrm>
          <a:custGeom>
            <a:avLst/>
            <a:gdLst/>
            <a:ahLst/>
            <a:cxnLst/>
            <a:rect l="l" t="t" r="r" b="b"/>
            <a:pathLst>
              <a:path w="512064" h="512064">
                <a:moveTo>
                  <a:pt x="256032" y="0"/>
                </a:moveTo>
                <a:moveTo>
                  <a:pt x="256032" y="0"/>
                </a:moveTo>
                <a:cubicBezTo>
                  <a:pt x="397340" y="0"/>
                  <a:pt x="512064" y="114724"/>
                  <a:pt x="512064" y="256032"/>
                </a:cubicBezTo>
                <a:cubicBezTo>
                  <a:pt x="512064" y="397340"/>
                  <a:pt x="397340" y="512064"/>
                  <a:pt x="256032" y="512064"/>
                </a:cubicBezTo>
                <a:cubicBezTo>
                  <a:pt x="114724" y="512064"/>
                  <a:pt x="0" y="397340"/>
                  <a:pt x="0" y="256032"/>
                </a:cubicBezTo>
                <a:cubicBezTo>
                  <a:pt x="0" y="114724"/>
                  <a:pt x="114724" y="0"/>
                  <a:pt x="256032" y="0"/>
                </a:cubicBezTo>
                <a:close/>
              </a:path>
            </a:pathLst>
          </a:custGeom>
          <a:solidFill>
            <a:srgbClr val="0084FF"/>
          </a:solidFill>
          <a:ln/>
        </p:spPr>
      </p:sp>
      <p:sp>
        <p:nvSpPr>
          <p:cNvPr id="10" name="Text 8"/>
          <p:cNvSpPr/>
          <p:nvPr/>
        </p:nvSpPr>
        <p:spPr>
          <a:xfrm>
            <a:off x="3471595" y="2247755"/>
            <a:ext cx="813748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40" dirty="0"/>
          </a:p>
        </p:txBody>
      </p:sp>
      <p:sp>
        <p:nvSpPr>
          <p:cNvPr id="11" name="Shape 9"/>
          <p:cNvSpPr/>
          <p:nvPr/>
        </p:nvSpPr>
        <p:spPr>
          <a:xfrm rot="-366000">
            <a:off x="6052352" y="2478460"/>
            <a:ext cx="2450592" cy="2542032"/>
          </a:xfrm>
          <a:custGeom>
            <a:avLst/>
            <a:gdLst/>
            <a:ahLst/>
            <a:cxnLst/>
            <a:rect l="l" t="t" r="r" b="b"/>
            <a:pathLst>
              <a:path w="2450592" h="2542032">
                <a:moveTo>
                  <a:pt x="216394" y="0"/>
                </a:moveTo>
                <a:moveTo>
                  <a:pt x="216394" y="0"/>
                </a:moveTo>
                <a:lnTo>
                  <a:pt x="2234198" y="0"/>
                </a:lnTo>
                <a:quadBezTo>
                  <a:pt x="2450592" y="0"/>
                  <a:pt x="2450592" y="216394"/>
                </a:quadBezTo>
                <a:lnTo>
                  <a:pt x="2450592" y="2325638"/>
                </a:lnTo>
                <a:quadBezTo>
                  <a:pt x="2450592" y="2542032"/>
                  <a:pt x="2234198" y="2542032"/>
                </a:quadBezTo>
                <a:lnTo>
                  <a:pt x="216394" y="2542032"/>
                </a:lnTo>
                <a:quadBezTo>
                  <a:pt x="0" y="2542032"/>
                  <a:pt x="0" y="2325638"/>
                </a:quadBezTo>
                <a:lnTo>
                  <a:pt x="0" y="216394"/>
                </a:lnTo>
                <a:quadBezTo>
                  <a:pt x="0" y="0"/>
                  <a:pt x="216394" y="0"/>
                </a:quadBezTo>
                <a:close/>
              </a:path>
            </a:pathLst>
          </a:custGeom>
          <a:solidFill>
            <a:srgbClr val="000000">
              <a:alpha val="0"/>
            </a:srgbClr>
          </a:solidFill>
          <a:ln w="19050">
            <a:solidFill>
              <a:srgbClr val="E81E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91989" y="2464799"/>
            <a:ext cx="2450592" cy="2542032"/>
          </a:xfrm>
          <a:custGeom>
            <a:avLst/>
            <a:gdLst/>
            <a:ahLst/>
            <a:cxnLst/>
            <a:rect l="l" t="t" r="r" b="b"/>
            <a:pathLst>
              <a:path w="2450592" h="2542032">
                <a:moveTo>
                  <a:pt x="216394" y="0"/>
                </a:moveTo>
                <a:moveTo>
                  <a:pt x="216394" y="0"/>
                </a:moveTo>
                <a:lnTo>
                  <a:pt x="2234198" y="0"/>
                </a:lnTo>
                <a:quadBezTo>
                  <a:pt x="2450592" y="0"/>
                  <a:pt x="2450592" y="216394"/>
                </a:quadBezTo>
                <a:lnTo>
                  <a:pt x="2450592" y="2325638"/>
                </a:lnTo>
                <a:quadBezTo>
                  <a:pt x="2450592" y="2542032"/>
                  <a:pt x="2234198" y="2542032"/>
                </a:quadBezTo>
                <a:lnTo>
                  <a:pt x="216394" y="2542032"/>
                </a:lnTo>
                <a:quadBezTo>
                  <a:pt x="0" y="2542032"/>
                  <a:pt x="0" y="2325638"/>
                </a:quadBezTo>
                <a:lnTo>
                  <a:pt x="0" y="216394"/>
                </a:lnTo>
                <a:quadBezTo>
                  <a:pt x="0" y="0"/>
                  <a:pt x="216394" y="0"/>
                </a:quadBezTo>
                <a:close/>
              </a:path>
            </a:pathLst>
          </a:custGeom>
          <a:solidFill>
            <a:srgbClr val="000000">
              <a:alpha val="0"/>
            </a:srgbClr>
          </a:solidFill>
          <a:ln w="19050">
            <a:solidFill>
              <a:srgbClr val="E81E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29280" y="2275187"/>
            <a:ext cx="512064" cy="512064"/>
          </a:xfrm>
          <a:custGeom>
            <a:avLst/>
            <a:gdLst/>
            <a:ahLst/>
            <a:cxnLst/>
            <a:rect l="l" t="t" r="r" b="b"/>
            <a:pathLst>
              <a:path w="512064" h="512064">
                <a:moveTo>
                  <a:pt x="256032" y="0"/>
                </a:moveTo>
                <a:moveTo>
                  <a:pt x="256032" y="0"/>
                </a:moveTo>
                <a:cubicBezTo>
                  <a:pt x="397340" y="0"/>
                  <a:pt x="512064" y="114724"/>
                  <a:pt x="512064" y="256032"/>
                </a:cubicBezTo>
                <a:cubicBezTo>
                  <a:pt x="512064" y="397340"/>
                  <a:pt x="397340" y="512064"/>
                  <a:pt x="256032" y="512064"/>
                </a:cubicBezTo>
                <a:cubicBezTo>
                  <a:pt x="114724" y="512064"/>
                  <a:pt x="0" y="397340"/>
                  <a:pt x="0" y="256032"/>
                </a:cubicBezTo>
                <a:cubicBezTo>
                  <a:pt x="0" y="114724"/>
                  <a:pt x="114724" y="0"/>
                  <a:pt x="256032" y="0"/>
                </a:cubicBezTo>
                <a:close/>
              </a:path>
            </a:pathLst>
          </a:custGeom>
          <a:solidFill>
            <a:srgbClr val="0084FF"/>
          </a:solidFill>
          <a:ln/>
        </p:spPr>
      </p:sp>
      <p:sp>
        <p:nvSpPr>
          <p:cNvPr id="14" name="Text 12"/>
          <p:cNvSpPr/>
          <p:nvPr/>
        </p:nvSpPr>
        <p:spPr>
          <a:xfrm>
            <a:off x="6169294" y="2243183"/>
            <a:ext cx="813748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40" dirty="0"/>
          </a:p>
        </p:txBody>
      </p:sp>
      <p:sp>
        <p:nvSpPr>
          <p:cNvPr id="15" name="Text 13"/>
          <p:cNvSpPr/>
          <p:nvPr/>
        </p:nvSpPr>
        <p:spPr>
          <a:xfrm>
            <a:off x="678303" y="2788718"/>
            <a:ext cx="2449397" cy="44805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28" b="1" dirty="0">
                <a:solidFill>
                  <a:srgbClr val="E81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紧急救援行动启动</a:t>
            </a:r>
            <a:endParaRPr lang="en-US" sz="1440" dirty="0"/>
          </a:p>
        </p:txBody>
      </p:sp>
      <p:sp>
        <p:nvSpPr>
          <p:cNvPr id="16" name="Text 14"/>
          <p:cNvSpPr/>
          <p:nvPr/>
        </p:nvSpPr>
        <p:spPr>
          <a:xfrm>
            <a:off x="806319" y="3110517"/>
            <a:ext cx="2194560" cy="14996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2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在接到求救信号后，王建忠迅速组织救援行动，面对恶劣天气和复杂海况，他带领团队克服重重困难，成功靠近遇险俄船。</a:t>
            </a:r>
            <a:endParaRPr lang="en-US" sz="1440" dirty="0"/>
          </a:p>
        </p:txBody>
      </p:sp>
      <p:sp>
        <p:nvSpPr>
          <p:cNvPr id="17" name="Text 15"/>
          <p:cNvSpPr/>
          <p:nvPr/>
        </p:nvSpPr>
        <p:spPr>
          <a:xfrm>
            <a:off x="3385146" y="2788718"/>
            <a:ext cx="2449397" cy="44805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28" b="1" dirty="0">
                <a:solidFill>
                  <a:srgbClr val="E81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六次穿越“魔鬼西风带”</a:t>
            </a:r>
            <a:endParaRPr lang="en-US" sz="1440" dirty="0"/>
          </a:p>
        </p:txBody>
      </p:sp>
      <p:sp>
        <p:nvSpPr>
          <p:cNvPr id="18" name="Text 16"/>
          <p:cNvSpPr/>
          <p:nvPr/>
        </p:nvSpPr>
        <p:spPr>
          <a:xfrm>
            <a:off x="3513162" y="3110517"/>
            <a:ext cx="2194560" cy="14996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2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在一次航行中，王建忠带领“雪龙”号六次穿越被称为航海家坟墓的“魔鬼西风带”，展现了极高的航海技术和勇气。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091989" y="2788718"/>
            <a:ext cx="2449397" cy="44805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28" b="1" dirty="0">
                <a:solidFill>
                  <a:srgbClr val="E81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成功转运52名乘客</a:t>
            </a:r>
            <a:endParaRPr lang="en-US" sz="1440" dirty="0"/>
          </a:p>
        </p:txBody>
      </p:sp>
      <p:sp>
        <p:nvSpPr>
          <p:cNvPr id="20" name="Text 18"/>
          <p:cNvSpPr/>
          <p:nvPr/>
        </p:nvSpPr>
        <p:spPr>
          <a:xfrm>
            <a:off x="6220005" y="3110517"/>
            <a:ext cx="2194560" cy="14996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2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经过近9个小时的努力，王建忠和他的团队在脆弱的浮冰表面铺上木板，将52名惊魂未定的乘客安全转运到澳大利亚“极光”号上。</a:t>
            </a:r>
            <a:endParaRPr lang="en-US" sz="1440" dirty="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C2AE17BE-C7A9-3526-53E9-61844E1C1D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8894" y="448725"/>
            <a:ext cx="2795331" cy="1826462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137A7A36-FD29-89E8-6C17-19971B1614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4227" y="448723"/>
            <a:ext cx="3004233" cy="1826464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7937BDC2-0E3B-107B-729D-157DB9AF1F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4389" y="448726"/>
            <a:ext cx="2899776" cy="182646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44235" y="1030946"/>
            <a:ext cx="2055531" cy="171907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8064" b="1" dirty="0">
                <a:solidFill>
                  <a:srgbClr val="FAE4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40" dirty="0"/>
          </a:p>
        </p:txBody>
      </p:sp>
      <p:sp>
        <p:nvSpPr>
          <p:cNvPr id="3" name="Text 1"/>
          <p:cNvSpPr/>
          <p:nvPr/>
        </p:nvSpPr>
        <p:spPr>
          <a:xfrm>
            <a:off x="0" y="2388830"/>
            <a:ext cx="9144000" cy="70408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736" dirty="0">
                <a:solidFill>
                  <a:srgbClr val="FAE4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爱国与信念重要性</a:t>
            </a:r>
            <a:endParaRPr lang="en-US" sz="1440" dirty="0"/>
          </a:p>
        </p:txBody>
      </p:sp>
      <p:pic>
        <p:nvPicPr>
          <p:cNvPr id="4" name="Image 0" descr="https://sgw-dx.xf-yun.com/api/v1/sparkdesk/_19052329831_pRUgWF1732072005825-020175645818468935.png?authorization=c2ltcGxlLWp3dCBhaz1zcGFya2Rlc2s4MDAwMDAwMDAwMDE7ZXhwPTMzMDg4NzIwMDg7YWxnbz1obWFjLXNoYTI1NjtzaWc9aHc2bk1JRlhaRmJ6R2h0b2FqRHVScVhIZmRVMHhFM0FRWXBQRGd3U2FMaz0=&amp;x_location=7YfmxI7B7uKO7jlRxIftd60pfPD=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172" y="2631146"/>
            <a:ext cx="927512" cy="256032"/>
          </a:xfrm>
          <a:prstGeom prst="rect">
            <a:avLst/>
          </a:prstGeom>
        </p:spPr>
      </p:pic>
      <p:pic>
        <p:nvPicPr>
          <p:cNvPr id="5" name="Image 1" descr="https://sgw-dx.xf-yun.com/api/v1/sparkdesk/_19052329831_pRUgWF1732072005825-020175645818468935.png?authorization=c2ltcGxlLWp3dCBhaz1zcGFya2Rlc2s4MDAwMDAwMDAwMDE7ZXhwPTMzMDg4NzIwMDg7YWxnbz1obWFjLXNoYTI1NjtzaWc9aHc2bk1JRlhaRmJ6R2h0b2FqRHVScVhIZmRVMHhFM0FRWXBQRGd3U2FMaz0=&amp;x_location=7YfmxI7B7uKO7jlRxIftd60pfPD=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999316" y="2631146"/>
            <a:ext cx="927512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0207" y="66883"/>
            <a:ext cx="8088253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面对困难勇气与力量</a:t>
            </a:r>
            <a:endParaRPr lang="en-US" sz="1440" dirty="0"/>
          </a:p>
        </p:txBody>
      </p:sp>
      <p:sp>
        <p:nvSpPr>
          <p:cNvPr id="3" name="Shape 1"/>
          <p:cNvSpPr/>
          <p:nvPr/>
        </p:nvSpPr>
        <p:spPr>
          <a:xfrm>
            <a:off x="5510252" y="2264253"/>
            <a:ext cx="2689524" cy="445315"/>
          </a:xfrm>
          <a:custGeom>
            <a:avLst/>
            <a:gdLst/>
            <a:ahLst/>
            <a:cxnLst/>
            <a:rect l="l" t="t" r="r" b="b"/>
            <a:pathLst>
              <a:path w="2689524" h="445315">
                <a:moveTo>
                  <a:pt x="0" y="0"/>
                </a:moveTo>
                <a:moveTo>
                  <a:pt x="0" y="0"/>
                </a:moveTo>
                <a:lnTo>
                  <a:pt x="2689524" y="0"/>
                </a:lnTo>
                <a:lnTo>
                  <a:pt x="2689524" y="445315"/>
                </a:lnTo>
                <a:lnTo>
                  <a:pt x="0" y="445315"/>
                </a:lnTo>
                <a:close/>
              </a:path>
            </a:pathLst>
          </a:custGeom>
          <a:solidFill>
            <a:srgbClr val="5196FF"/>
          </a:solidFill>
          <a:ln/>
        </p:spPr>
      </p:sp>
      <p:sp>
        <p:nvSpPr>
          <p:cNvPr id="4" name="Shape 2"/>
          <p:cNvSpPr/>
          <p:nvPr/>
        </p:nvSpPr>
        <p:spPr>
          <a:xfrm rot="-8100000">
            <a:off x="7748355" y="2055442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0" y="0"/>
                </a:moveTo>
                <a:moveTo>
                  <a:pt x="0" y="0"/>
                </a:moveTo>
                <a:lnTo>
                  <a:pt x="0" y="731520"/>
                </a:lnTo>
                <a:lnTo>
                  <a:pt x="731520" y="731520"/>
                </a:lnTo>
                <a:close/>
              </a:path>
            </a:pathLst>
          </a:custGeom>
          <a:solidFill>
            <a:srgbClr val="5196FF"/>
          </a:solidFill>
          <a:ln/>
        </p:spPr>
      </p:sp>
      <p:sp>
        <p:nvSpPr>
          <p:cNvPr id="5" name="Shape 3"/>
          <p:cNvSpPr/>
          <p:nvPr/>
        </p:nvSpPr>
        <p:spPr>
          <a:xfrm>
            <a:off x="512622" y="1319563"/>
            <a:ext cx="7687154" cy="576734"/>
          </a:xfrm>
          <a:custGeom>
            <a:avLst/>
            <a:gdLst/>
            <a:ahLst/>
            <a:cxnLst/>
            <a:rect l="l" t="t" r="r" b="b"/>
            <a:pathLst>
              <a:path w="7687154" h="576734">
                <a:moveTo>
                  <a:pt x="0" y="0"/>
                </a:moveTo>
                <a:moveTo>
                  <a:pt x="0" y="0"/>
                </a:moveTo>
                <a:lnTo>
                  <a:pt x="7687154" y="0"/>
                </a:lnTo>
                <a:lnTo>
                  <a:pt x="7687154" y="576734"/>
                </a:lnTo>
                <a:lnTo>
                  <a:pt x="0" y="576734"/>
                </a:lnTo>
                <a:close/>
              </a:path>
            </a:pathLst>
          </a:custGeom>
          <a:solidFill>
            <a:srgbClr val="5196FF"/>
          </a:solidFill>
          <a:ln/>
        </p:spPr>
      </p:sp>
      <p:sp>
        <p:nvSpPr>
          <p:cNvPr id="6" name="Shape 4"/>
          <p:cNvSpPr/>
          <p:nvPr/>
        </p:nvSpPr>
        <p:spPr>
          <a:xfrm rot="-8100000">
            <a:off x="7739211" y="1242170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0" y="0"/>
                </a:moveTo>
                <a:moveTo>
                  <a:pt x="0" y="0"/>
                </a:moveTo>
                <a:lnTo>
                  <a:pt x="0" y="731520"/>
                </a:lnTo>
                <a:lnTo>
                  <a:pt x="731520" y="731520"/>
                </a:lnTo>
                <a:close/>
              </a:path>
            </a:pathLst>
          </a:custGeom>
          <a:solidFill>
            <a:srgbClr val="5196FF"/>
          </a:solidFill>
          <a:ln/>
        </p:spPr>
      </p:sp>
      <p:sp>
        <p:nvSpPr>
          <p:cNvPr id="7" name="Shape 5"/>
          <p:cNvSpPr/>
          <p:nvPr/>
        </p:nvSpPr>
        <p:spPr>
          <a:xfrm rot="-8100000">
            <a:off x="7730067" y="1610126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0" y="0"/>
                </a:moveTo>
                <a:moveTo>
                  <a:pt x="0" y="0"/>
                </a:moveTo>
                <a:lnTo>
                  <a:pt x="0" y="731520"/>
                </a:lnTo>
                <a:lnTo>
                  <a:pt x="731520" y="731520"/>
                </a:lnTo>
                <a:close/>
              </a:path>
            </a:pathLst>
          </a:custGeom>
          <a:solidFill>
            <a:srgbClr val="0084FF"/>
          </a:solidFill>
          <a:ln/>
        </p:spPr>
      </p:sp>
      <p:sp>
        <p:nvSpPr>
          <p:cNvPr id="8" name="Shape 6"/>
          <p:cNvSpPr/>
          <p:nvPr/>
        </p:nvSpPr>
        <p:spPr>
          <a:xfrm>
            <a:off x="521766" y="1903939"/>
            <a:ext cx="2511105" cy="1682799"/>
          </a:xfrm>
          <a:custGeom>
            <a:avLst/>
            <a:gdLst/>
            <a:ahLst/>
            <a:cxnLst/>
            <a:rect l="l" t="t" r="r" b="b"/>
            <a:pathLst>
              <a:path w="2511105" h="1682799">
                <a:moveTo>
                  <a:pt x="0" y="0"/>
                </a:moveTo>
                <a:moveTo>
                  <a:pt x="0" y="0"/>
                </a:moveTo>
                <a:lnTo>
                  <a:pt x="2511105" y="0"/>
                </a:lnTo>
                <a:lnTo>
                  <a:pt x="2511105" y="1682799"/>
                </a:lnTo>
                <a:lnTo>
                  <a:pt x="0" y="16827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>
            <a:solidFill>
              <a:srgbClr val="CC9E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30749" y="2264253"/>
            <a:ext cx="2488647" cy="1682799"/>
          </a:xfrm>
          <a:custGeom>
            <a:avLst/>
            <a:gdLst/>
            <a:ahLst/>
            <a:cxnLst/>
            <a:rect l="l" t="t" r="r" b="b"/>
            <a:pathLst>
              <a:path w="2488647" h="1682799">
                <a:moveTo>
                  <a:pt x="0" y="0"/>
                </a:moveTo>
                <a:moveTo>
                  <a:pt x="0" y="0"/>
                </a:moveTo>
                <a:lnTo>
                  <a:pt x="2488647" y="0"/>
                </a:lnTo>
                <a:lnTo>
                  <a:pt x="2488647" y="1682799"/>
                </a:lnTo>
                <a:lnTo>
                  <a:pt x="0" y="16827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>
            <a:solidFill>
              <a:srgbClr val="E81E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19396" y="2709569"/>
            <a:ext cx="2591353" cy="1682799"/>
          </a:xfrm>
          <a:custGeom>
            <a:avLst/>
            <a:gdLst/>
            <a:ahLst/>
            <a:cxnLst/>
            <a:rect l="l" t="t" r="r" b="b"/>
            <a:pathLst>
              <a:path w="2591353" h="1682799">
                <a:moveTo>
                  <a:pt x="0" y="0"/>
                </a:moveTo>
                <a:moveTo>
                  <a:pt x="0" y="0"/>
                </a:moveTo>
                <a:lnTo>
                  <a:pt x="2591353" y="0"/>
                </a:lnTo>
                <a:lnTo>
                  <a:pt x="2591353" y="1682799"/>
                </a:lnTo>
                <a:lnTo>
                  <a:pt x="0" y="16827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>
            <a:solidFill>
              <a:srgbClr val="CC9E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2401" y="1406762"/>
            <a:ext cx="2430470" cy="40233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728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张海迪的坚韧不拔</a:t>
            </a:r>
            <a:endParaRPr lang="en-US" sz="1440" dirty="0"/>
          </a:p>
        </p:txBody>
      </p:sp>
      <p:sp>
        <p:nvSpPr>
          <p:cNvPr id="12" name="Text 10"/>
          <p:cNvSpPr/>
          <p:nvPr/>
        </p:nvSpPr>
        <p:spPr>
          <a:xfrm>
            <a:off x="512622" y="1864695"/>
            <a:ext cx="2501961" cy="14630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800"/>
              </a:lnSpc>
              <a:spcBef>
                <a:spcPts val="375"/>
              </a:spcBef>
              <a:buNone/>
            </a:pPr>
            <a:r>
              <a:rPr lang="en-US" sz="1152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面对脊髓血管瘤带来的巨大挑战，张海迪没有屈服于命运，而是以惊人的毅力自学成才，不仅掌握了多门外语，还成为了一名作家和社会活动家。</a:t>
            </a:r>
            <a:endParaRPr lang="en-US" sz="1440" dirty="0"/>
          </a:p>
        </p:txBody>
      </p:sp>
      <p:sp>
        <p:nvSpPr>
          <p:cNvPr id="13" name="Text 11"/>
          <p:cNvSpPr/>
          <p:nvPr/>
        </p:nvSpPr>
        <p:spPr>
          <a:xfrm>
            <a:off x="3017435" y="2264253"/>
            <a:ext cx="2501961" cy="14630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800"/>
              </a:lnSpc>
              <a:spcBef>
                <a:spcPts val="375"/>
              </a:spcBef>
              <a:buNone/>
            </a:pPr>
            <a:r>
              <a:rPr lang="en-US" sz="1152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在“雪龙”号被困冰中时，王建忠展现出了非凡的勇气和冷静，他坚持指挥破冰行动，最终成功救助了52名遇险乘客，体现了真正的爱国精神。</a:t>
            </a:r>
            <a:endParaRPr lang="en-US" sz="1440" dirty="0"/>
          </a:p>
        </p:txBody>
      </p:sp>
      <p:sp>
        <p:nvSpPr>
          <p:cNvPr id="14" name="Text 12"/>
          <p:cNvSpPr/>
          <p:nvPr/>
        </p:nvSpPr>
        <p:spPr>
          <a:xfrm>
            <a:off x="5510252" y="2307233"/>
            <a:ext cx="2430470" cy="40233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728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信念的力量</a:t>
            </a:r>
            <a:endParaRPr lang="en-US" sz="1440" dirty="0"/>
          </a:p>
        </p:txBody>
      </p:sp>
      <p:sp>
        <p:nvSpPr>
          <p:cNvPr id="15" name="Text 13"/>
          <p:cNvSpPr/>
          <p:nvPr/>
        </p:nvSpPr>
        <p:spPr>
          <a:xfrm>
            <a:off x="5519396" y="2709569"/>
            <a:ext cx="2501961" cy="14630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800"/>
              </a:lnSpc>
              <a:spcBef>
                <a:spcPts val="375"/>
              </a:spcBef>
              <a:buNone/>
            </a:pPr>
            <a:r>
              <a:rPr lang="en-US" sz="1152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无论是张海迪还是王建忠，他们都用自己的实际行动证明了信念的力量，这种力量让他们在逆境中不屈不挠，成为了无数人的榜样。</a:t>
            </a:r>
            <a:endParaRPr lang="en-US" sz="1440" dirty="0"/>
          </a:p>
        </p:txBody>
      </p:sp>
      <p:sp>
        <p:nvSpPr>
          <p:cNvPr id="16" name="Shape 14"/>
          <p:cNvSpPr/>
          <p:nvPr/>
        </p:nvSpPr>
        <p:spPr>
          <a:xfrm>
            <a:off x="3023727" y="1687519"/>
            <a:ext cx="5176049" cy="576734"/>
          </a:xfrm>
          <a:custGeom>
            <a:avLst/>
            <a:gdLst/>
            <a:ahLst/>
            <a:cxnLst/>
            <a:rect l="l" t="t" r="r" b="b"/>
            <a:pathLst>
              <a:path w="5176049" h="576734">
                <a:moveTo>
                  <a:pt x="0" y="0"/>
                </a:moveTo>
                <a:moveTo>
                  <a:pt x="0" y="0"/>
                </a:moveTo>
                <a:lnTo>
                  <a:pt x="5176049" y="0"/>
                </a:lnTo>
                <a:lnTo>
                  <a:pt x="5176049" y="576734"/>
                </a:lnTo>
                <a:lnTo>
                  <a:pt x="0" y="576734"/>
                </a:lnTo>
                <a:close/>
              </a:path>
            </a:pathLst>
          </a:custGeom>
          <a:solidFill>
            <a:srgbClr val="0084FF"/>
          </a:solidFill>
          <a:ln/>
        </p:spPr>
      </p:sp>
      <p:sp>
        <p:nvSpPr>
          <p:cNvPr id="17" name="Text 15"/>
          <p:cNvSpPr/>
          <p:nvPr/>
        </p:nvSpPr>
        <p:spPr>
          <a:xfrm>
            <a:off x="3014583" y="1774718"/>
            <a:ext cx="2430470" cy="40233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728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王建忠的极地救援</a:t>
            </a:r>
            <a:endParaRPr lang="en-US" sz="14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44235" y="1030946"/>
            <a:ext cx="2055531" cy="171907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8064" b="1" dirty="0">
                <a:solidFill>
                  <a:srgbClr val="FAE4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40" dirty="0"/>
          </a:p>
        </p:txBody>
      </p:sp>
      <p:sp>
        <p:nvSpPr>
          <p:cNvPr id="3" name="Text 1"/>
          <p:cNvSpPr/>
          <p:nvPr/>
        </p:nvSpPr>
        <p:spPr>
          <a:xfrm>
            <a:off x="0" y="2388830"/>
            <a:ext cx="9144000" cy="70408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736" dirty="0">
                <a:solidFill>
                  <a:srgbClr val="FAE4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共同书写辉煌篇章</a:t>
            </a:r>
            <a:endParaRPr lang="en-US" sz="1440" dirty="0"/>
          </a:p>
        </p:txBody>
      </p:sp>
      <p:pic>
        <p:nvPicPr>
          <p:cNvPr id="4" name="Image 0" descr="https://sgw-dx.xf-yun.com/api/v1/sparkdesk/_19052329831_pRUgWF1732072005825-020175645818468935.png?authorization=c2ltcGxlLWp3dCBhaz1zcGFya2Rlc2s4MDAwMDAwMDAwMDE7ZXhwPTMzMDg4NzIwMDg7YWxnbz1obWFjLXNoYTI1NjtzaWc9aHc2bk1JRlhaRmJ6R2h0b2FqRHVScVhIZmRVMHhFM0FRWXBQRGd3U2FMaz0=&amp;x_location=7YfmxI7B7uKO7jlRxIftd60pfPD=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172" y="2631146"/>
            <a:ext cx="927512" cy="256032"/>
          </a:xfrm>
          <a:prstGeom prst="rect">
            <a:avLst/>
          </a:prstGeom>
        </p:spPr>
      </p:pic>
      <p:pic>
        <p:nvPicPr>
          <p:cNvPr id="5" name="Image 1" descr="https://sgw-dx.xf-yun.com/api/v1/sparkdesk/_19052329831_pRUgWF1732072005825-020175645818468935.png?authorization=c2ltcGxlLWp3dCBhaz1zcGFya2Rlc2s4MDAwMDAwMDAwMDE7ZXhwPTMzMDg4NzIwMDg7YWxnbz1obWFjLXNoYTI1NjtzaWc9aHc2bk1JRlhaRmJ6R2h0b2FqRHVScVhIZmRVMHhFM0FRWXBQRGd3U2FMaz0=&amp;x_location=7YfmxI7B7uKO7jlRxIftd60pfPD=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999316" y="2631146"/>
            <a:ext cx="927512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0207" y="66883"/>
            <a:ext cx="8088253" cy="522131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112500"/>
              </a:lnSpc>
              <a:spcBef>
                <a:spcPts val="375"/>
              </a:spcBef>
            </a:pPr>
            <a:r>
              <a:rPr lang="zh-CN" altLang="en-US" sz="2016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实际行动诠释爱国之情</a:t>
            </a:r>
            <a:r>
              <a:rPr lang="en-US" altLang="zh-CN" sz="1440" dirty="0"/>
              <a:t>                                             </a:t>
            </a:r>
            <a:r>
              <a:rPr lang="zh-CN" altLang="en-US" sz="2016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不懈奋斗践行信念之志</a:t>
            </a:r>
            <a:endParaRPr lang="en-US" sz="1440" dirty="0"/>
          </a:p>
        </p:txBody>
      </p:sp>
      <p:sp>
        <p:nvSpPr>
          <p:cNvPr id="3" name="Text 1"/>
          <p:cNvSpPr/>
          <p:nvPr/>
        </p:nvSpPr>
        <p:spPr>
          <a:xfrm>
            <a:off x="2743200" y="1025863"/>
            <a:ext cx="3657600" cy="44805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728" b="1" dirty="0">
                <a:solidFill>
                  <a:srgbClr val="E81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张海迪的坚韧不拔</a:t>
            </a:r>
            <a:endParaRPr lang="en-US" sz="1440" dirty="0"/>
          </a:p>
        </p:txBody>
      </p:sp>
      <p:sp>
        <p:nvSpPr>
          <p:cNvPr id="4" name="Text 2"/>
          <p:cNvSpPr/>
          <p:nvPr/>
        </p:nvSpPr>
        <p:spPr>
          <a:xfrm>
            <a:off x="2743200" y="1368172"/>
            <a:ext cx="3657600" cy="84124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2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张海迪面对脊髓血管瘤带来的巨大挑战，不仅自学成才，还积极参与社会公益事业，她的故事激励着无数人以坚定的信念克服困难。</a:t>
            </a:r>
            <a:endParaRPr lang="en-US" sz="1440" dirty="0"/>
          </a:p>
        </p:txBody>
      </p:sp>
      <p:sp>
        <p:nvSpPr>
          <p:cNvPr id="5" name="Text 3"/>
          <p:cNvSpPr/>
          <p:nvPr/>
        </p:nvSpPr>
        <p:spPr>
          <a:xfrm>
            <a:off x="522708" y="2567541"/>
            <a:ext cx="3657600" cy="44805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728" b="1" dirty="0">
                <a:solidFill>
                  <a:srgbClr val="E81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王建忠的极地探险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522708" y="2899468"/>
            <a:ext cx="3657600" cy="84124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2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王建忠作为极地船长，在极端恶劣的环境中展现出非凡的勇气和智慧，他的行动证明了爱国与信念的力量能够引领人们战胜一切艰难险阻。</a:t>
            </a:r>
            <a:endParaRPr lang="en-US" sz="1440" dirty="0"/>
          </a:p>
        </p:txBody>
      </p:sp>
      <p:sp>
        <p:nvSpPr>
          <p:cNvPr id="7" name="Text 5"/>
          <p:cNvSpPr/>
          <p:nvPr/>
        </p:nvSpPr>
        <p:spPr>
          <a:xfrm>
            <a:off x="4963692" y="2567541"/>
            <a:ext cx="3657600" cy="44805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728" b="1" dirty="0">
                <a:solidFill>
                  <a:srgbClr val="E81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爱国与信念的融合</a:t>
            </a:r>
            <a:endParaRPr lang="en-US" sz="1440" dirty="0"/>
          </a:p>
        </p:txBody>
      </p:sp>
      <p:sp>
        <p:nvSpPr>
          <p:cNvPr id="8" name="Text 6"/>
          <p:cNvSpPr/>
          <p:nvPr/>
        </p:nvSpPr>
        <p:spPr>
          <a:xfrm>
            <a:off x="4963692" y="2899468"/>
            <a:ext cx="3657600" cy="84124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152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爱国情感与坚定信念相辅相成，共同塑造了一个个勇于担当的灵魂，它们让我们在时代的洪流中成为见证者、参与者和创造者。</a:t>
            </a:r>
            <a:endParaRPr lang="en-US" sz="14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219270"/>
            <a:ext cx="9144000" cy="120700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5184" b="1" dirty="0">
                <a:solidFill>
                  <a:srgbClr val="FAE4B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感谢观看</a:t>
            </a:r>
            <a:endParaRPr lang="en-US" sz="1440" dirty="0"/>
          </a:p>
        </p:txBody>
      </p:sp>
      <p:pic>
        <p:nvPicPr>
          <p:cNvPr id="3" name="Image 0" descr="https://sgw-dx.xf-yun.com/api/v1/sparkdesk/_19052329831_pRUgWF1732072005825-020175645818468935.png?authorization=c2ltcGxlLWp3dCBhaz1zcGFya2Rlc2s4MDAwMDAwMDAwMDE7ZXhwPTMzMDg4NzIwMDg7YWxnbz1obWFjLXNoYTI1NjtzaWc9aHc2bk1JRlhaRmJ6R2h0b2FqRHVScVhIZmRVMHhFM0FRWXBQRGd3U2FMaz0=&amp;x_location=7YfmxI7B7uKO7jlRxIftd60pfPD=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3400" y="2298262"/>
            <a:ext cx="927512" cy="256032"/>
          </a:xfrm>
          <a:prstGeom prst="rect">
            <a:avLst/>
          </a:prstGeom>
        </p:spPr>
      </p:pic>
      <p:pic>
        <p:nvPicPr>
          <p:cNvPr id="4" name="Image 1" descr="https://sgw-dx.xf-yun.com/api/v1/sparkdesk/_19052329831_pRUgWF1732072005825-020175645818468935.png?authorization=c2ltcGxlLWp3dCBhaz1zcGFya2Rlc2s4MDAwMDAwMDAwMDE7ZXhwPTMzMDg4NzIwMDg7YWxnbz1obWFjLXNoYTI1NjtzaWc9aHc2bk1JRlhaRmJ6R2h0b2FqRHVScVhIZmRVMHhFM0FRWXBQRGd3U2FMaz0=&amp;x_location=7YfmxI7B7uKO7jlRxIftd60pfPD=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43088" y="2298262"/>
            <a:ext cx="927512" cy="25603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453605" y="2197678"/>
            <a:ext cx="2236791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440" dirty="0">
                <a:solidFill>
                  <a:srgbClr val="FAE4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THANKS</a:t>
            </a:r>
            <a:endParaRPr lang="en-US" sz="14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255</Words>
  <Application>Microsoft Office PowerPoint</Application>
  <PresentationFormat>全屏显示(16:9)</PresentationFormat>
  <Paragraphs>75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微软雅黑</vt:lpstr>
      <vt:lpstr>微软雅黑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svhjesiv Wang</cp:lastModifiedBy>
  <cp:revision>8</cp:revision>
  <dcterms:created xsi:type="dcterms:W3CDTF">2024-12-01T07:37:33Z</dcterms:created>
  <dcterms:modified xsi:type="dcterms:W3CDTF">2026-01-15T07:37:24Z</dcterms:modified>
</cp:coreProperties>
</file>